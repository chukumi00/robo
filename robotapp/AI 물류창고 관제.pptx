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윤고딕 Bold" charset="1" panose="020B0803000000000000"/>
      <p:regular r:id="rId14"/>
    </p:embeddedFont>
    <p:embeddedFont>
      <p:font typeface="윤고딕 Medium" charset="1" panose="020B0603000000000000"/>
      <p:regular r:id="rId15"/>
    </p:embeddedFont>
    <p:embeddedFont>
      <p:font typeface="윤고딕" charset="1" panose="020B0503000000000000"/>
      <p:regular r:id="rId16"/>
    </p:embeddedFont>
    <p:embeddedFont>
      <p:font typeface="윤고딕 Semi-Bold" charset="1" panose="020B0603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png" Type="http://schemas.openxmlformats.org/officeDocument/2006/relationships/image"/><Relationship Id="rId15" Target="../media/image37.png" Type="http://schemas.openxmlformats.org/officeDocument/2006/relationships/image"/><Relationship Id="rId16" Target="../media/image38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12" Target="../media/image49.png" Type="http://schemas.openxmlformats.org/officeDocument/2006/relationships/image"/><Relationship Id="rId13" Target="../media/image50.png" Type="http://schemas.openxmlformats.org/officeDocument/2006/relationships/image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png" Type="http://schemas.openxmlformats.org/officeDocument/2006/relationships/image"/><Relationship Id="rId12" Target="../media/image61.png" Type="http://schemas.openxmlformats.org/officeDocument/2006/relationships/image"/><Relationship Id="rId13" Target="../media/image62.png" Type="http://schemas.openxmlformats.org/officeDocument/2006/relationships/image"/><Relationship Id="rId14" Target="../media/image63.png" Type="http://schemas.openxmlformats.org/officeDocument/2006/relationships/image"/><Relationship Id="rId15" Target="../media/image64.png" Type="http://schemas.openxmlformats.org/officeDocument/2006/relationships/image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png" Type="http://schemas.openxmlformats.org/officeDocument/2006/relationships/image"/><Relationship Id="rId12" Target="../media/image75.png" Type="http://schemas.openxmlformats.org/officeDocument/2006/relationships/image"/><Relationship Id="rId13" Target="../media/image76.png" Type="http://schemas.openxmlformats.org/officeDocument/2006/relationships/image"/><Relationship Id="rId14" Target="../media/image77.png" Type="http://schemas.openxmlformats.org/officeDocument/2006/relationships/image"/><Relationship Id="rId15" Target="../media/image78.png" Type="http://schemas.openxmlformats.org/officeDocument/2006/relationships/image"/><Relationship Id="rId16" Target="../media/image79.png" Type="http://schemas.openxmlformats.org/officeDocument/2006/relationships/image"/><Relationship Id="rId17" Target="../media/image80.png" Type="http://schemas.openxmlformats.org/officeDocument/2006/relationships/image"/><Relationship Id="rId18" Target="../media/image81.png" Type="http://schemas.openxmlformats.org/officeDocument/2006/relationships/image"/><Relationship Id="rId19" Target="../media/image82.png" Type="http://schemas.openxmlformats.org/officeDocument/2006/relationships/image"/><Relationship Id="rId2" Target="../media/image65.png" Type="http://schemas.openxmlformats.org/officeDocument/2006/relationships/image"/><Relationship Id="rId20" Target="../media/image83.png" Type="http://schemas.openxmlformats.org/officeDocument/2006/relationships/image"/><Relationship Id="rId21" Target="../media/image84.png" Type="http://schemas.openxmlformats.org/officeDocument/2006/relationships/image"/><Relationship Id="rId22" Target="../media/image85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Relationship Id="rId5" Target="../media/image68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6.png" Type="http://schemas.openxmlformats.org/officeDocument/2006/relationships/image"/><Relationship Id="rId3" Target="../media/image87.png" Type="http://schemas.openxmlformats.org/officeDocument/2006/relationships/image"/><Relationship Id="rId4" Target="../media/image88.png" Type="http://schemas.openxmlformats.org/officeDocument/2006/relationships/image"/><Relationship Id="rId5" Target="../media/image89.png" Type="http://schemas.openxmlformats.org/officeDocument/2006/relationships/image"/><Relationship Id="rId6" Target="../media/image90.png" Type="http://schemas.openxmlformats.org/officeDocument/2006/relationships/image"/><Relationship Id="rId7" Target="../media/image91.png" Type="http://schemas.openxmlformats.org/officeDocument/2006/relationships/image"/><Relationship Id="rId8" Target="../media/image9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9850" y="385762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72925" y="406717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01550" y="4714875"/>
            <a:ext cx="4800600" cy="3857625"/>
          </a:xfrm>
          <a:custGeom>
            <a:avLst/>
            <a:gdLst/>
            <a:ahLst/>
            <a:cxnLst/>
            <a:rect r="r" b="b" t="t" l="l"/>
            <a:pathLst>
              <a:path h="3857625" w="4800600">
                <a:moveTo>
                  <a:pt x="0" y="0"/>
                </a:moveTo>
                <a:lnTo>
                  <a:pt x="4800600" y="0"/>
                </a:lnTo>
                <a:lnTo>
                  <a:pt x="48006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128" y="1366224"/>
            <a:ext cx="5577840" cy="359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4"/>
              </a:lnSpc>
            </a:pPr>
            <a:r>
              <a:rPr lang="en-US" sz="8076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AI 스마트</a:t>
            </a:r>
          </a:p>
          <a:p>
            <a:pPr algn="l">
              <a:lnSpc>
                <a:spcPts val="8884"/>
              </a:lnSpc>
            </a:pPr>
            <a:r>
              <a:rPr lang="en-US" sz="8076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물류창고</a:t>
            </a:r>
          </a:p>
          <a:p>
            <a:pPr algn="l">
              <a:lnSpc>
                <a:spcPts val="8884"/>
              </a:lnSpc>
            </a:pPr>
            <a:r>
              <a:rPr lang="en-US" sz="8076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관제 시스템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4128" y="5227189"/>
            <a:ext cx="3182112" cy="60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9"/>
              </a:lnSpc>
            </a:pPr>
            <a:r>
              <a:rPr lang="en-US" sz="3890">
                <a:solidFill>
                  <a:srgbClr val="64B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프로젝트 소개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6775" y="6000750"/>
            <a:ext cx="5448300" cy="219075"/>
          </a:xfrm>
          <a:custGeom>
            <a:avLst/>
            <a:gdLst/>
            <a:ahLst/>
            <a:cxnLst/>
            <a:rect r="r" b="b" t="t" l="l"/>
            <a:pathLst>
              <a:path h="219075" w="5448300">
                <a:moveTo>
                  <a:pt x="0" y="0"/>
                </a:moveTo>
                <a:lnTo>
                  <a:pt x="5448300" y="0"/>
                </a:lnTo>
                <a:lnTo>
                  <a:pt x="5448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4128" y="6494526"/>
            <a:ext cx="627278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3"/>
              </a:lnSpc>
            </a:pPr>
            <a:r>
              <a:rPr lang="en-US" sz="2744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NVIDIA Isaac Sim-Omniverse 기반</a:t>
            </a:r>
          </a:p>
          <a:p>
            <a:pPr algn="l">
              <a:lnSpc>
                <a:spcPts val="3293"/>
              </a:lnSpc>
            </a:pPr>
            <a:r>
              <a:rPr lang="en-US" sz="2744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가상 물류환경과 On-Premise LLM 활용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4128" y="7553551"/>
            <a:ext cx="4133088" cy="133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2371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재고, 주문, AMR, 작업, 이벤트를</a:t>
            </a:r>
          </a:p>
          <a:p>
            <a:pPr algn="l">
              <a:lnSpc>
                <a:spcPts val="3557"/>
              </a:lnSpc>
            </a:pPr>
            <a:r>
              <a:rPr lang="en-US" sz="2371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통합 관리하고 자연어 지시와</a:t>
            </a:r>
          </a:p>
          <a:p>
            <a:pPr algn="l">
              <a:lnSpc>
                <a:spcPts val="3557"/>
              </a:lnSpc>
            </a:pPr>
            <a:r>
              <a:rPr lang="en-US" sz="2371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운영정보 조화를 지원합니다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609850" y="942975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4128" y="9532608"/>
            <a:ext cx="2999232" cy="373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1959">
                <a:solidFill>
                  <a:srgbClr val="64B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2026-09-07   |   </a:t>
            </a:r>
            <a:r>
              <a:rPr lang="en-US" sz="1959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발표자명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3068300" cy="8572500"/>
          </a:xfrm>
          <a:custGeom>
            <a:avLst/>
            <a:gdLst/>
            <a:ahLst/>
            <a:cxnLst/>
            <a:rect r="r" b="b" t="t" l="l"/>
            <a:pathLst>
              <a:path h="8572500" w="13068300">
                <a:moveTo>
                  <a:pt x="0" y="0"/>
                </a:moveTo>
                <a:lnTo>
                  <a:pt x="13068300" y="0"/>
                </a:lnTo>
                <a:lnTo>
                  <a:pt x="130683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353425"/>
            <a:ext cx="15030450" cy="1933575"/>
          </a:xfrm>
          <a:custGeom>
            <a:avLst/>
            <a:gdLst/>
            <a:ahLst/>
            <a:cxnLst/>
            <a:rect r="r" b="b" t="t" l="l"/>
            <a:pathLst>
              <a:path h="1933575" w="15030450">
                <a:moveTo>
                  <a:pt x="0" y="0"/>
                </a:moveTo>
                <a:lnTo>
                  <a:pt x="15030450" y="0"/>
                </a:lnTo>
                <a:lnTo>
                  <a:pt x="150304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96112" y="1040320"/>
            <a:ext cx="5047488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42"/>
              </a:lnSpc>
            </a:pPr>
            <a:r>
              <a:rPr lang="en-US" sz="7618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문제와 목표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6112" y="2722491"/>
            <a:ext cx="6803136" cy="1100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338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복잡한 물류창고 운영의 비효율싱과 </a:t>
            </a:r>
          </a:p>
          <a:p>
            <a:pPr algn="l">
              <a:lnSpc>
                <a:spcPts val="4340"/>
              </a:lnSpc>
            </a:pPr>
            <a:r>
              <a:rPr lang="en-US" sz="3338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데이터 단절 문제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6775" y="4067175"/>
            <a:ext cx="6753225" cy="219075"/>
          </a:xfrm>
          <a:custGeom>
            <a:avLst/>
            <a:gdLst/>
            <a:ahLst/>
            <a:cxnLst/>
            <a:rect r="r" b="b" t="t" l="l"/>
            <a:pathLst>
              <a:path h="219075" w="6753225">
                <a:moveTo>
                  <a:pt x="0" y="0"/>
                </a:moveTo>
                <a:lnTo>
                  <a:pt x="6753225" y="0"/>
                </a:lnTo>
                <a:lnTo>
                  <a:pt x="6753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6775" y="4495800"/>
            <a:ext cx="228600" cy="1724025"/>
          </a:xfrm>
          <a:custGeom>
            <a:avLst/>
            <a:gdLst/>
            <a:ahLst/>
            <a:cxnLst/>
            <a:rect r="r" b="b" t="t" l="l"/>
            <a:pathLst>
              <a:path h="1724025" w="228600">
                <a:moveTo>
                  <a:pt x="0" y="0"/>
                </a:moveTo>
                <a:lnTo>
                  <a:pt x="228600" y="0"/>
                </a:lnTo>
                <a:lnTo>
                  <a:pt x="228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89888" y="4580398"/>
            <a:ext cx="1737360" cy="5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3122">
                <a:solidFill>
                  <a:srgbClr val="80B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통합 관리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9888" y="5189402"/>
            <a:ext cx="5760720" cy="93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51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가상 물류현경과 On-Premise LLM으로 </a:t>
            </a:r>
          </a:p>
          <a:p>
            <a:pPr algn="l">
              <a:lnSpc>
                <a:spcPts val="3779"/>
              </a:lnSpc>
            </a:pPr>
            <a:r>
              <a:rPr lang="en-US" sz="251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재고, 주문, AMR, 작업, 이벤트를 통합 관리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66775" y="6638925"/>
            <a:ext cx="228600" cy="1504950"/>
          </a:xfrm>
          <a:custGeom>
            <a:avLst/>
            <a:gdLst/>
            <a:ahLst/>
            <a:cxnLst/>
            <a:rect r="r" b="b" t="t" l="l"/>
            <a:pathLst>
              <a:path h="1504950" w="22860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89888" y="6596650"/>
            <a:ext cx="3145536" cy="5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3122">
                <a:solidFill>
                  <a:srgbClr val="80B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지능형 운영 지원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9888" y="7205654"/>
            <a:ext cx="3182112" cy="93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51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자연어 지시를 지원하고 </a:t>
            </a:r>
          </a:p>
          <a:p>
            <a:pPr algn="l">
              <a:lnSpc>
                <a:spcPts val="3779"/>
              </a:lnSpc>
            </a:pPr>
            <a:r>
              <a:rPr lang="en-US" sz="251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실시간 운영정보를 조화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42032" y="8880364"/>
            <a:ext cx="822960" cy="5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3122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재고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20240" y="9523547"/>
            <a:ext cx="2084832" cy="369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5"/>
              </a:lnSpc>
            </a:pPr>
            <a:r>
              <a:rPr lang="en-US" sz="2043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실시간 가시성 확보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133850" y="9210675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656832" y="8880364"/>
            <a:ext cx="1024128" cy="5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3122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AMR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44768" y="9523547"/>
            <a:ext cx="2084832" cy="369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5"/>
              </a:lnSpc>
            </a:pPr>
            <a:r>
              <a:rPr lang="en-US" sz="2043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효율적 이동과 관제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267700" y="9210675"/>
            <a:ext cx="1533525" cy="219075"/>
          </a:xfrm>
          <a:custGeom>
            <a:avLst/>
            <a:gdLst/>
            <a:ahLst/>
            <a:cxnLst/>
            <a:rect r="r" b="b" t="t" l="l"/>
            <a:pathLst>
              <a:path h="219075" w="1533525">
                <a:moveTo>
                  <a:pt x="0" y="0"/>
                </a:moveTo>
                <a:lnTo>
                  <a:pt x="1533525" y="0"/>
                </a:lnTo>
                <a:lnTo>
                  <a:pt x="153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058400" y="9523056"/>
            <a:ext cx="1810512" cy="37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sz="2017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지능형 작업 관리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19888" y="8880364"/>
            <a:ext cx="822960" cy="5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3122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작업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72625" y="638175"/>
            <a:ext cx="8505825" cy="9010650"/>
          </a:xfrm>
          <a:custGeom>
            <a:avLst/>
            <a:gdLst/>
            <a:ahLst/>
            <a:cxnLst/>
            <a:rect r="r" b="b" t="t" l="l"/>
            <a:pathLst>
              <a:path h="9010650" w="8505825">
                <a:moveTo>
                  <a:pt x="0" y="0"/>
                </a:moveTo>
                <a:lnTo>
                  <a:pt x="8505825" y="0"/>
                </a:lnTo>
                <a:lnTo>
                  <a:pt x="8505825" y="9010650"/>
                </a:lnTo>
                <a:lnTo>
                  <a:pt x="0" y="9010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2625" y="3209925"/>
            <a:ext cx="8715375" cy="4505325"/>
          </a:xfrm>
          <a:custGeom>
            <a:avLst/>
            <a:gdLst/>
            <a:ahLst/>
            <a:cxnLst/>
            <a:rect r="r" b="b" t="t" l="l"/>
            <a:pathLst>
              <a:path h="4505325" w="8715375">
                <a:moveTo>
                  <a:pt x="0" y="0"/>
                </a:moveTo>
                <a:lnTo>
                  <a:pt x="8715375" y="0"/>
                </a:lnTo>
                <a:lnTo>
                  <a:pt x="871537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4944" y="890968"/>
            <a:ext cx="683971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9"/>
              </a:lnSpc>
            </a:pPr>
            <a:r>
              <a:rPr lang="en-US" sz="6349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벤치마킹과 방향성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4944" y="2432308"/>
            <a:ext cx="6967728" cy="152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2835">
                <a:solidFill>
                  <a:srgbClr val="70B5F8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NVIDIA Isaac Sim</a:t>
            </a:r>
            <a:r>
              <a:rPr lang="en-US" sz="2835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과 Omniverse 기반 </a:t>
            </a:r>
          </a:p>
          <a:p>
            <a:pPr algn="l">
              <a:lnSpc>
                <a:spcPts val="3969"/>
              </a:lnSpc>
            </a:pPr>
            <a:r>
              <a:rPr lang="en-US" sz="2835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물류·로봇 시뮬레이션으로 </a:t>
            </a:r>
          </a:p>
          <a:p>
            <a:pPr algn="l">
              <a:lnSpc>
                <a:spcPts val="3969"/>
              </a:lnSpc>
            </a:pPr>
            <a:r>
              <a:rPr lang="en-US" sz="2835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스마트 물류창고 운영을 혁신합니다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700" y="4714875"/>
            <a:ext cx="2400300" cy="2571750"/>
          </a:xfrm>
          <a:custGeom>
            <a:avLst/>
            <a:gdLst/>
            <a:ahLst/>
            <a:cxnLst/>
            <a:rect r="r" b="b" t="t" l="l"/>
            <a:pathLst>
              <a:path h="2571750" w="2400300">
                <a:moveTo>
                  <a:pt x="0" y="0"/>
                </a:moveTo>
                <a:lnTo>
                  <a:pt x="2400300" y="0"/>
                </a:lnTo>
                <a:lnTo>
                  <a:pt x="24003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69264" y="5681948"/>
            <a:ext cx="1792224" cy="602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7"/>
              </a:lnSpc>
            </a:pPr>
            <a:r>
              <a:rPr lang="en-US" sz="1762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NVIDIA Isaac Sim</a:t>
            </a:r>
          </a:p>
          <a:p>
            <a:pPr algn="ctr">
              <a:lnSpc>
                <a:spcPts val="2467"/>
              </a:lnSpc>
            </a:pPr>
            <a:r>
              <a:rPr lang="en-US" sz="1762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-Omniverse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2688" y="6472333"/>
            <a:ext cx="1865376" cy="58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1687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물류창고와 로봇을 </a:t>
            </a:r>
          </a:p>
          <a:p>
            <a:pPr algn="ctr">
              <a:lnSpc>
                <a:spcPts val="2362"/>
              </a:lnSpc>
            </a:pPr>
            <a:r>
              <a:rPr lang="en-US" sz="1687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정밀하게 시뮬레이션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828925" y="557212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257550" y="4714875"/>
            <a:ext cx="2838450" cy="2571750"/>
          </a:xfrm>
          <a:custGeom>
            <a:avLst/>
            <a:gdLst/>
            <a:ahLst/>
            <a:cxnLst/>
            <a:rect r="r" b="b" t="t" l="l"/>
            <a:pathLst>
              <a:path h="2571750" w="2838450">
                <a:moveTo>
                  <a:pt x="0" y="0"/>
                </a:moveTo>
                <a:lnTo>
                  <a:pt x="2838450" y="0"/>
                </a:lnTo>
                <a:lnTo>
                  <a:pt x="28384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30752" y="5690521"/>
            <a:ext cx="1865376" cy="58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1687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실시간 데이터로 </a:t>
            </a:r>
          </a:p>
          <a:p>
            <a:pPr algn="ctr">
              <a:lnSpc>
                <a:spcPts val="2362"/>
              </a:lnSpc>
            </a:pPr>
            <a:r>
              <a:rPr lang="en-US" sz="1687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운영을 모니터링하고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22192" y="6456712"/>
            <a:ext cx="1719072" cy="298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7"/>
              </a:lnSpc>
            </a:pPr>
            <a:r>
              <a:rPr lang="en-US" sz="1762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지속적으로 최적화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876925" y="5572125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096000" y="4714875"/>
            <a:ext cx="2838450" cy="2571750"/>
          </a:xfrm>
          <a:custGeom>
            <a:avLst/>
            <a:gdLst/>
            <a:ahLst/>
            <a:cxnLst/>
            <a:rect r="r" b="b" t="t" l="l"/>
            <a:pathLst>
              <a:path h="2571750" w="2838450">
                <a:moveTo>
                  <a:pt x="0" y="0"/>
                </a:moveTo>
                <a:lnTo>
                  <a:pt x="2838450" y="0"/>
                </a:lnTo>
                <a:lnTo>
                  <a:pt x="28384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01968" y="5690045"/>
            <a:ext cx="1865376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시뮬레이션과 실제 </a:t>
            </a:r>
          </a:p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운영 데이터를 통합해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01968" y="6459093"/>
            <a:ext cx="1865376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더 나은 의사결정 지원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47700" y="7496175"/>
            <a:ext cx="8286750" cy="1933575"/>
          </a:xfrm>
          <a:custGeom>
            <a:avLst/>
            <a:gdLst/>
            <a:ahLst/>
            <a:cxnLst/>
            <a:rect r="r" b="b" t="t" l="l"/>
            <a:pathLst>
              <a:path h="1933575" w="8286750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926080" y="7997571"/>
            <a:ext cx="354787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209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가상과 헌실의 데이터 통합이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91056" y="8518588"/>
            <a:ext cx="629107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2340">
                <a:solidFill>
                  <a:srgbClr val="70B5F8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정확한 예측과 운영 최적화를 가능하게 합니다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0160" y="5045202"/>
            <a:ext cx="117043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2090">
                <a:solidFill>
                  <a:srgbClr val="70B5F8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가상 환경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14800" y="5045202"/>
            <a:ext cx="117043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2090">
                <a:solidFill>
                  <a:srgbClr val="70B5F8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실제 운영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11696" y="5045202"/>
            <a:ext cx="171907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2090">
                <a:solidFill>
                  <a:srgbClr val="70B5F8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동합 인사이트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8096" y="1035939"/>
            <a:ext cx="4974336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7"/>
              </a:lnSpc>
            </a:pPr>
            <a:r>
              <a:rPr lang="en-US" sz="5855" spc="-58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통합 운영 모델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8096" y="2351264"/>
            <a:ext cx="7882128" cy="95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3"/>
              </a:lnSpc>
            </a:pPr>
            <a:r>
              <a:rPr lang="en-US" sz="2535" spc="-25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재고, 주문, AMR, 작업, 이벤트를 하나의 흐름으로 연결해 </a:t>
            </a:r>
          </a:p>
          <a:p>
            <a:pPr algn="l">
              <a:lnSpc>
                <a:spcPts val="3803"/>
              </a:lnSpc>
            </a:pPr>
            <a:r>
              <a:rPr lang="en-US" sz="2535" spc="-25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실시간 가시성과 만첩한 의사결정을 실현합니다.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9808" y="3962400"/>
            <a:ext cx="51206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6"/>
              </a:lnSpc>
            </a:pPr>
            <a:r>
              <a:rPr lang="en-US" sz="3389" spc="-33">
                <a:solidFill>
                  <a:srgbClr val="64B6F6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01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4495800"/>
            <a:ext cx="2838450" cy="219075"/>
          </a:xfrm>
          <a:custGeom>
            <a:avLst/>
            <a:gdLst/>
            <a:ahLst/>
            <a:cxnLst/>
            <a:rect r="r" b="b" t="t" l="l"/>
            <a:pathLst>
              <a:path h="219075" w="2838450">
                <a:moveTo>
                  <a:pt x="0" y="0"/>
                </a:moveTo>
                <a:lnTo>
                  <a:pt x="2838450" y="0"/>
                </a:lnTo>
                <a:lnTo>
                  <a:pt x="283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8096" y="4873756"/>
            <a:ext cx="1298448" cy="45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340" spc="-23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주문 접수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7700" y="5781675"/>
            <a:ext cx="3057525" cy="3867150"/>
          </a:xfrm>
          <a:custGeom>
            <a:avLst/>
            <a:gdLst/>
            <a:ahLst/>
            <a:cxnLst/>
            <a:rect r="r" b="b" t="t" l="l"/>
            <a:pathLst>
              <a:path h="3867150" w="3057525">
                <a:moveTo>
                  <a:pt x="0" y="0"/>
                </a:moveTo>
                <a:lnTo>
                  <a:pt x="3057525" y="0"/>
                </a:lnTo>
                <a:lnTo>
                  <a:pt x="305752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76625" y="728662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59936" y="4000500"/>
            <a:ext cx="5120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2943" spc="-29">
                <a:solidFill>
                  <a:srgbClr val="64B6F6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02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914775" y="4495800"/>
            <a:ext cx="3057525" cy="219075"/>
          </a:xfrm>
          <a:custGeom>
            <a:avLst/>
            <a:gdLst/>
            <a:ahLst/>
            <a:cxnLst/>
            <a:rect r="r" b="b" t="t" l="l"/>
            <a:pathLst>
              <a:path h="219075" w="3057525">
                <a:moveTo>
                  <a:pt x="0" y="0"/>
                </a:moveTo>
                <a:lnTo>
                  <a:pt x="3057525" y="0"/>
                </a:lnTo>
                <a:lnTo>
                  <a:pt x="3057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59936" y="4868632"/>
            <a:ext cx="1719072" cy="863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spc="-23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작업 생성 및 </a:t>
            </a:r>
          </a:p>
          <a:p>
            <a:pPr algn="l">
              <a:lnSpc>
                <a:spcPts val="3320"/>
              </a:lnSpc>
            </a:pPr>
            <a:r>
              <a:rPr lang="en-US" sz="2371" spc="-23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AMR 배정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914775" y="5781675"/>
            <a:ext cx="3276600" cy="3867150"/>
          </a:xfrm>
          <a:custGeom>
            <a:avLst/>
            <a:gdLst/>
            <a:ahLst/>
            <a:cxnLst/>
            <a:rect r="r" b="b" t="t" l="l"/>
            <a:pathLst>
              <a:path h="3867150" w="3276600">
                <a:moveTo>
                  <a:pt x="0" y="0"/>
                </a:moveTo>
                <a:lnTo>
                  <a:pt x="3276600" y="0"/>
                </a:lnTo>
                <a:lnTo>
                  <a:pt x="327660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962775" y="728662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644384" y="4000500"/>
            <a:ext cx="5120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2943" spc="-29">
                <a:solidFill>
                  <a:srgbClr val="64B6F6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03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620000" y="4495800"/>
            <a:ext cx="2838450" cy="219075"/>
          </a:xfrm>
          <a:custGeom>
            <a:avLst/>
            <a:gdLst/>
            <a:ahLst/>
            <a:cxnLst/>
            <a:rect r="r" b="b" t="t" l="l"/>
            <a:pathLst>
              <a:path h="219075" w="2838450">
                <a:moveTo>
                  <a:pt x="0" y="0"/>
                </a:moveTo>
                <a:lnTo>
                  <a:pt x="2838450" y="0"/>
                </a:lnTo>
                <a:lnTo>
                  <a:pt x="283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644384" y="4868632"/>
            <a:ext cx="1883664" cy="863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spc="-23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AMR 이동 및 </a:t>
            </a:r>
          </a:p>
          <a:p>
            <a:pPr algn="l">
              <a:lnSpc>
                <a:spcPts val="3320"/>
              </a:lnSpc>
            </a:pPr>
            <a:r>
              <a:rPr lang="en-US" sz="2371" spc="-23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작업 수행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400925" y="5781675"/>
            <a:ext cx="3267075" cy="3867150"/>
          </a:xfrm>
          <a:custGeom>
            <a:avLst/>
            <a:gdLst/>
            <a:ahLst/>
            <a:cxnLst/>
            <a:rect r="r" b="b" t="t" l="l"/>
            <a:pathLst>
              <a:path h="3867150" w="3267075">
                <a:moveTo>
                  <a:pt x="0" y="0"/>
                </a:moveTo>
                <a:lnTo>
                  <a:pt x="3267075" y="0"/>
                </a:lnTo>
                <a:lnTo>
                  <a:pt x="326707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448925" y="728662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096625" y="4495800"/>
            <a:ext cx="2838450" cy="219075"/>
          </a:xfrm>
          <a:custGeom>
            <a:avLst/>
            <a:gdLst/>
            <a:ahLst/>
            <a:cxnLst/>
            <a:rect r="r" b="b" t="t" l="l"/>
            <a:pathLst>
              <a:path h="219075" w="2838450">
                <a:moveTo>
                  <a:pt x="0" y="0"/>
                </a:moveTo>
                <a:lnTo>
                  <a:pt x="2838450" y="0"/>
                </a:lnTo>
                <a:lnTo>
                  <a:pt x="283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228832" y="4877755"/>
            <a:ext cx="2304288" cy="85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340" spc="-23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상태 업데이트 및 </a:t>
            </a:r>
          </a:p>
          <a:p>
            <a:pPr algn="l">
              <a:lnSpc>
                <a:spcPts val="3276"/>
              </a:lnSpc>
            </a:pPr>
            <a:r>
              <a:rPr lang="en-US" sz="2340" spc="-23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이력 저장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877550" y="5781675"/>
            <a:ext cx="3276600" cy="3867150"/>
          </a:xfrm>
          <a:custGeom>
            <a:avLst/>
            <a:gdLst/>
            <a:ahLst/>
            <a:cxnLst/>
            <a:rect r="r" b="b" t="t" l="l"/>
            <a:pathLst>
              <a:path h="3867150" w="3276600">
                <a:moveTo>
                  <a:pt x="0" y="0"/>
                </a:moveTo>
                <a:lnTo>
                  <a:pt x="3276600" y="0"/>
                </a:lnTo>
                <a:lnTo>
                  <a:pt x="327660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925550" y="728662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582775" y="4495800"/>
            <a:ext cx="3057525" cy="219075"/>
          </a:xfrm>
          <a:custGeom>
            <a:avLst/>
            <a:gdLst/>
            <a:ahLst/>
            <a:cxnLst/>
            <a:rect r="r" b="b" t="t" l="l"/>
            <a:pathLst>
              <a:path h="219075" w="3057525">
                <a:moveTo>
                  <a:pt x="0" y="0"/>
                </a:moveTo>
                <a:lnTo>
                  <a:pt x="3057525" y="0"/>
                </a:lnTo>
                <a:lnTo>
                  <a:pt x="3057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758416" y="4851190"/>
            <a:ext cx="2560320" cy="90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 spc="-24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이벤트 모니터링 및 재계획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4582775" y="5781675"/>
            <a:ext cx="3057525" cy="3867150"/>
          </a:xfrm>
          <a:custGeom>
            <a:avLst/>
            <a:gdLst/>
            <a:ahLst/>
            <a:cxnLst/>
            <a:rect r="r" b="b" t="t" l="l"/>
            <a:pathLst>
              <a:path h="3867150" w="3057525">
                <a:moveTo>
                  <a:pt x="0" y="0"/>
                </a:moveTo>
                <a:lnTo>
                  <a:pt x="3057525" y="0"/>
                </a:lnTo>
                <a:lnTo>
                  <a:pt x="305752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228832" y="4014788"/>
            <a:ext cx="51206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6"/>
              </a:lnSpc>
            </a:pPr>
            <a:r>
              <a:rPr lang="en-US" sz="2896" spc="-28">
                <a:solidFill>
                  <a:srgbClr val="64B6F6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58416" y="4000500"/>
            <a:ext cx="5120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2943" spc="-29">
                <a:solidFill>
                  <a:srgbClr val="64B6F6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6625" y="2352675"/>
            <a:ext cx="7191375" cy="7934325"/>
          </a:xfrm>
          <a:custGeom>
            <a:avLst/>
            <a:gdLst/>
            <a:ahLst/>
            <a:cxnLst/>
            <a:rect r="r" b="b" t="t" l="l"/>
            <a:pathLst>
              <a:path h="7934325" w="7191375">
                <a:moveTo>
                  <a:pt x="0" y="0"/>
                </a:moveTo>
                <a:lnTo>
                  <a:pt x="7191375" y="0"/>
                </a:lnTo>
                <a:lnTo>
                  <a:pt x="7191375" y="7934325"/>
                </a:lnTo>
                <a:lnTo>
                  <a:pt x="0" y="7934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4672" y="699707"/>
            <a:ext cx="6528816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2"/>
              </a:lnSpc>
            </a:pPr>
            <a:r>
              <a:rPr lang="en-US" sz="5627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데이터 및 기능 구조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4672" y="1871281"/>
            <a:ext cx="705916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231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핵심 데이터와 기능을 통합 관리하여 운영을 최적화합니다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2571750"/>
            <a:ext cx="447675" cy="1504950"/>
          </a:xfrm>
          <a:custGeom>
            <a:avLst/>
            <a:gdLst/>
            <a:ahLst/>
            <a:cxnLst/>
            <a:rect r="r" b="b" t="t" l="l"/>
            <a:pathLst>
              <a:path h="1504950" w="447675">
                <a:moveTo>
                  <a:pt x="0" y="0"/>
                </a:moveTo>
                <a:lnTo>
                  <a:pt x="447675" y="0"/>
                </a:lnTo>
                <a:lnTo>
                  <a:pt x="447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6775" y="2571750"/>
            <a:ext cx="9801225" cy="1504950"/>
          </a:xfrm>
          <a:custGeom>
            <a:avLst/>
            <a:gdLst/>
            <a:ahLst/>
            <a:cxnLst/>
            <a:rect r="r" b="b" t="t" l="l"/>
            <a:pathLst>
              <a:path h="1504950" w="9801225">
                <a:moveTo>
                  <a:pt x="0" y="0"/>
                </a:moveTo>
                <a:lnTo>
                  <a:pt x="9801225" y="0"/>
                </a:lnTo>
                <a:lnTo>
                  <a:pt x="9801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44752" y="2903410"/>
            <a:ext cx="69494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1"/>
              </a:lnSpc>
            </a:pPr>
            <a:r>
              <a:rPr lang="en-US" sz="4176" spc="208">
                <a:solidFill>
                  <a:srgbClr val="62A1E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80944" y="2901505"/>
            <a:ext cx="413308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1"/>
              </a:lnSpc>
            </a:pPr>
            <a:r>
              <a:rPr lang="en-US" sz="2392" spc="119">
                <a:solidFill>
                  <a:srgbClr val="62A1E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물품/재고 및 보관구역 관리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80944" y="3427857"/>
            <a:ext cx="470001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spc="9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실시간 재고 현황과 보관 위치를 통합 관리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7700" y="3857625"/>
            <a:ext cx="447675" cy="1714500"/>
          </a:xfrm>
          <a:custGeom>
            <a:avLst/>
            <a:gdLst/>
            <a:ahLst/>
            <a:cxnLst/>
            <a:rect r="r" b="b" t="t" l="l"/>
            <a:pathLst>
              <a:path h="1714500" w="447675">
                <a:moveTo>
                  <a:pt x="0" y="0"/>
                </a:moveTo>
                <a:lnTo>
                  <a:pt x="447675" y="0"/>
                </a:lnTo>
                <a:lnTo>
                  <a:pt x="4476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6775" y="3857625"/>
            <a:ext cx="9801225" cy="1714500"/>
          </a:xfrm>
          <a:custGeom>
            <a:avLst/>
            <a:gdLst/>
            <a:ahLst/>
            <a:cxnLst/>
            <a:rect r="r" b="b" t="t" l="l"/>
            <a:pathLst>
              <a:path h="1714500" w="9801225">
                <a:moveTo>
                  <a:pt x="0" y="0"/>
                </a:moveTo>
                <a:lnTo>
                  <a:pt x="9801225" y="0"/>
                </a:lnTo>
                <a:lnTo>
                  <a:pt x="98012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89888" y="4322255"/>
            <a:ext cx="786384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2"/>
              </a:lnSpc>
            </a:pPr>
            <a:r>
              <a:rPr lang="en-US" sz="4143" spc="207">
                <a:solidFill>
                  <a:srgbClr val="62A1E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80944" y="4315587"/>
            <a:ext cx="544982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7"/>
              </a:lnSpc>
            </a:pPr>
            <a:r>
              <a:rPr lang="en-US" sz="2322" spc="116">
                <a:solidFill>
                  <a:srgbClr val="62A1E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입고·출고 주문 상태 및 우선순위 관리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7700" y="5353050"/>
            <a:ext cx="447675" cy="1724025"/>
          </a:xfrm>
          <a:custGeom>
            <a:avLst/>
            <a:gdLst/>
            <a:ahLst/>
            <a:cxnLst/>
            <a:rect r="r" b="b" t="t" l="l"/>
            <a:pathLst>
              <a:path h="1724025" w="447675">
                <a:moveTo>
                  <a:pt x="0" y="0"/>
                </a:moveTo>
                <a:lnTo>
                  <a:pt x="447675" y="0"/>
                </a:lnTo>
                <a:lnTo>
                  <a:pt x="4476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66775" y="5353050"/>
            <a:ext cx="9801225" cy="1724025"/>
          </a:xfrm>
          <a:custGeom>
            <a:avLst/>
            <a:gdLst/>
            <a:ahLst/>
            <a:cxnLst/>
            <a:rect r="r" b="b" t="t" l="l"/>
            <a:pathLst>
              <a:path h="1724025" w="9801225">
                <a:moveTo>
                  <a:pt x="0" y="0"/>
                </a:moveTo>
                <a:lnTo>
                  <a:pt x="9801225" y="0"/>
                </a:lnTo>
                <a:lnTo>
                  <a:pt x="98012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89888" y="5824156"/>
            <a:ext cx="786384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2"/>
              </a:lnSpc>
            </a:pPr>
            <a:r>
              <a:rPr lang="en-US" sz="4143" spc="207">
                <a:solidFill>
                  <a:srgbClr val="62A1E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80944" y="5807964"/>
            <a:ext cx="354787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357" spc="117">
                <a:solidFill>
                  <a:srgbClr val="62A1E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AMR 상태 및 작업 배정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47700" y="6858000"/>
            <a:ext cx="447675" cy="1714500"/>
          </a:xfrm>
          <a:custGeom>
            <a:avLst/>
            <a:gdLst/>
            <a:ahLst/>
            <a:cxnLst/>
            <a:rect r="r" b="b" t="t" l="l"/>
            <a:pathLst>
              <a:path h="1714500" w="447675">
                <a:moveTo>
                  <a:pt x="0" y="0"/>
                </a:moveTo>
                <a:lnTo>
                  <a:pt x="447675" y="0"/>
                </a:lnTo>
                <a:lnTo>
                  <a:pt x="4476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66775" y="6858000"/>
            <a:ext cx="9801225" cy="1714500"/>
          </a:xfrm>
          <a:custGeom>
            <a:avLst/>
            <a:gdLst/>
            <a:ahLst/>
            <a:cxnLst/>
            <a:rect r="r" b="b" t="t" l="l"/>
            <a:pathLst>
              <a:path h="1714500" w="9801225">
                <a:moveTo>
                  <a:pt x="0" y="0"/>
                </a:moveTo>
                <a:lnTo>
                  <a:pt x="9801225" y="0"/>
                </a:lnTo>
                <a:lnTo>
                  <a:pt x="98012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89888" y="7330821"/>
            <a:ext cx="786384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3"/>
              </a:lnSpc>
            </a:pPr>
            <a:r>
              <a:rPr lang="en-US" sz="4110" spc="205">
                <a:solidFill>
                  <a:srgbClr val="62A1E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80944" y="7309866"/>
            <a:ext cx="37673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sz="2428" spc="121">
                <a:solidFill>
                  <a:srgbClr val="62A1E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운영 이벤트 및 장애 관리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47700" y="8353425"/>
            <a:ext cx="447675" cy="1724025"/>
          </a:xfrm>
          <a:custGeom>
            <a:avLst/>
            <a:gdLst/>
            <a:ahLst/>
            <a:cxnLst/>
            <a:rect r="r" b="b" t="t" l="l"/>
            <a:pathLst>
              <a:path h="1724025" w="447675">
                <a:moveTo>
                  <a:pt x="0" y="0"/>
                </a:moveTo>
                <a:lnTo>
                  <a:pt x="447675" y="0"/>
                </a:lnTo>
                <a:lnTo>
                  <a:pt x="4476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66775" y="8353425"/>
            <a:ext cx="9801225" cy="1724025"/>
          </a:xfrm>
          <a:custGeom>
            <a:avLst/>
            <a:gdLst/>
            <a:ahLst/>
            <a:cxnLst/>
            <a:rect r="r" b="b" t="t" l="l"/>
            <a:pathLst>
              <a:path h="1724025" w="9801225">
                <a:moveTo>
                  <a:pt x="0" y="0"/>
                </a:moveTo>
                <a:lnTo>
                  <a:pt x="9801225" y="0"/>
                </a:lnTo>
                <a:lnTo>
                  <a:pt x="98012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89888" y="8827961"/>
            <a:ext cx="786384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2"/>
              </a:lnSpc>
            </a:pPr>
            <a:r>
              <a:rPr lang="en-US" sz="4143" spc="207">
                <a:solidFill>
                  <a:srgbClr val="62A1E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05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80944" y="8807005"/>
            <a:ext cx="347472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5"/>
              </a:lnSpc>
            </a:pPr>
            <a:r>
              <a:rPr lang="en-US" sz="2463" spc="123">
                <a:solidFill>
                  <a:srgbClr val="62A1E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작업 이력 및 추적 관리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80944" y="4873561"/>
            <a:ext cx="523036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2029" spc="101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주문 흐롬과 우선왕위를 기반으로 효율적 처리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80944" y="6375463"/>
            <a:ext cx="590702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2006" spc="10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위치, 배티리, 운행 상태를 모니티링하고 작업을 배정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80944" y="7877365"/>
            <a:ext cx="470001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2053" spc="102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장애물 감지와 이벤트를 실시간으로 관리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80944" y="9379268"/>
            <a:ext cx="495604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2029" spc="101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작업 이력을 기록하고 추적하여 투명성 확보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368" y="937316"/>
            <a:ext cx="12600432" cy="94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6"/>
              </a:lnSpc>
            </a:pPr>
            <a:r>
              <a:rPr lang="en-US" sz="5558" spc="-166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자연어 지시와 On-Premise LLM 원칙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2352675"/>
            <a:ext cx="6105525" cy="2152650"/>
          </a:xfrm>
          <a:custGeom>
            <a:avLst/>
            <a:gdLst/>
            <a:ahLst/>
            <a:cxnLst/>
            <a:rect r="r" b="b" t="t" l="l"/>
            <a:pathLst>
              <a:path h="2152650" w="6105525">
                <a:moveTo>
                  <a:pt x="0" y="0"/>
                </a:moveTo>
                <a:lnTo>
                  <a:pt x="6105525" y="0"/>
                </a:lnTo>
                <a:lnTo>
                  <a:pt x="610552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52144" y="2831175"/>
            <a:ext cx="5084064" cy="104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3"/>
              </a:lnSpc>
            </a:pPr>
            <a:r>
              <a:rPr lang="en-US" sz="2533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“긴급 출고부터 처러하고 </a:t>
            </a:r>
          </a:p>
          <a:p>
            <a:pPr algn="l">
              <a:lnSpc>
                <a:spcPts val="4053"/>
              </a:lnSpc>
            </a:pPr>
            <a:r>
              <a:rPr lang="en-US" sz="2533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배티리 20% 이하 로봇은 제외해”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3232" y="4746072"/>
            <a:ext cx="3017520" cy="41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392">
                <a:solidFill>
                  <a:srgbClr val="68A1E6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자연어 지시를 이해해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3232" y="5943680"/>
            <a:ext cx="5394960" cy="40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322">
                <a:solidFill>
                  <a:srgbClr val="68A1E6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On-Premise LLM이 계획을 수립하고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3232" y="6434992"/>
            <a:ext cx="4462272" cy="374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14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고수준 작업계획과 재계획을 담당합니다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3232" y="7112306"/>
            <a:ext cx="4718304" cy="426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428">
                <a:solidFill>
                  <a:srgbClr val="68A1E6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내부 시스템이 실행을 지원합니다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3232" y="7628093"/>
            <a:ext cx="4718304" cy="75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14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MariaDB와 밵엔드가 실제 데이터 조회와 </a:t>
            </a:r>
          </a:p>
          <a:p>
            <a:pPr algn="l">
              <a:lnSpc>
                <a:spcPts val="2872"/>
              </a:lnSpc>
            </a:pPr>
            <a:r>
              <a:rPr lang="en-US" sz="1914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계산을 수행합니다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3232" y="8727141"/>
            <a:ext cx="3017520" cy="41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392">
                <a:solidFill>
                  <a:srgbClr val="68A1E6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모든 처리는 내부에서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3232" y="9202195"/>
            <a:ext cx="5394960" cy="374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14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데이터 외부 전송을 차단하고 보안을 유지합니다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962775" y="3429000"/>
            <a:ext cx="10896600" cy="6000750"/>
          </a:xfrm>
          <a:custGeom>
            <a:avLst/>
            <a:gdLst/>
            <a:ahLst/>
            <a:cxnLst/>
            <a:rect r="r" b="b" t="t" l="l"/>
            <a:pathLst>
              <a:path h="6000750" w="10896600">
                <a:moveTo>
                  <a:pt x="0" y="0"/>
                </a:moveTo>
                <a:lnTo>
                  <a:pt x="10896600" y="0"/>
                </a:lnTo>
                <a:lnTo>
                  <a:pt x="10896600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877550" y="3209925"/>
            <a:ext cx="2838450" cy="647700"/>
          </a:xfrm>
          <a:custGeom>
            <a:avLst/>
            <a:gdLst/>
            <a:ahLst/>
            <a:cxnLst/>
            <a:rect r="r" b="b" t="t" l="l"/>
            <a:pathLst>
              <a:path h="647700" w="2838450">
                <a:moveTo>
                  <a:pt x="0" y="0"/>
                </a:moveTo>
                <a:lnTo>
                  <a:pt x="2838450" y="0"/>
                </a:lnTo>
                <a:lnTo>
                  <a:pt x="2838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430000" y="3412784"/>
            <a:ext cx="1737360" cy="336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8"/>
              </a:lnSpc>
            </a:pPr>
            <a:r>
              <a:rPr lang="en-US" sz="2006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On-Premise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400925" y="4067175"/>
            <a:ext cx="2400300" cy="3219450"/>
          </a:xfrm>
          <a:custGeom>
            <a:avLst/>
            <a:gdLst/>
            <a:ahLst/>
            <a:cxnLst/>
            <a:rect r="r" b="b" t="t" l="l"/>
            <a:pathLst>
              <a:path h="3219450" w="2400300">
                <a:moveTo>
                  <a:pt x="0" y="0"/>
                </a:moveTo>
                <a:lnTo>
                  <a:pt x="2400300" y="0"/>
                </a:lnTo>
                <a:lnTo>
                  <a:pt x="24003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790688" y="4720173"/>
            <a:ext cx="1408176" cy="35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2034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자연어 지시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54112" y="5780955"/>
            <a:ext cx="1554480" cy="59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895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예: “건급 출고부터 저리하고 </a:t>
            </a:r>
          </a:p>
          <a:p>
            <a:pPr algn="l">
              <a:lnSpc>
                <a:spcPts val="1522"/>
              </a:lnSpc>
            </a:pPr>
            <a:r>
              <a:rPr lang="en-US" sz="895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배티리 20% 이하 </a:t>
            </a:r>
          </a:p>
          <a:p>
            <a:pPr algn="l">
              <a:lnSpc>
                <a:spcPts val="1522"/>
              </a:lnSpc>
            </a:pPr>
            <a:r>
              <a:rPr lang="en-US" sz="895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로봇은 제외해“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791700" y="4067175"/>
            <a:ext cx="2838450" cy="3219450"/>
          </a:xfrm>
          <a:custGeom>
            <a:avLst/>
            <a:gdLst/>
            <a:ahLst/>
            <a:cxnLst/>
            <a:rect r="r" b="b" t="t" l="l"/>
            <a:pathLst>
              <a:path h="3219450" w="2838450">
                <a:moveTo>
                  <a:pt x="0" y="0"/>
                </a:moveTo>
                <a:lnTo>
                  <a:pt x="2838450" y="0"/>
                </a:lnTo>
                <a:lnTo>
                  <a:pt x="283845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094976" y="4742378"/>
            <a:ext cx="2139696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5"/>
              </a:lnSpc>
            </a:pPr>
            <a:r>
              <a:rPr lang="en-US" sz="1781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On-Premise LLM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70464" y="5569601"/>
            <a:ext cx="1261872" cy="92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6"/>
              </a:lnSpc>
            </a:pPr>
            <a:r>
              <a:rPr lang="en-US" sz="1537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의도 이해 </a:t>
            </a:r>
          </a:p>
          <a:p>
            <a:pPr algn="ctr">
              <a:lnSpc>
                <a:spcPts val="2306"/>
              </a:lnSpc>
            </a:pPr>
            <a:r>
              <a:rPr lang="en-US" sz="1537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작업계획 수립 </a:t>
            </a:r>
          </a:p>
          <a:p>
            <a:pPr algn="ctr">
              <a:lnSpc>
                <a:spcPts val="2306"/>
              </a:lnSpc>
            </a:pPr>
            <a:r>
              <a:rPr lang="en-US" sz="1537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제계해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620625" y="4067175"/>
            <a:ext cx="2409825" cy="3219450"/>
          </a:xfrm>
          <a:custGeom>
            <a:avLst/>
            <a:gdLst/>
            <a:ahLst/>
            <a:cxnLst/>
            <a:rect r="r" b="b" t="t" l="l"/>
            <a:pathLst>
              <a:path h="3219450" w="2409825">
                <a:moveTo>
                  <a:pt x="0" y="0"/>
                </a:moveTo>
                <a:lnTo>
                  <a:pt x="2409825" y="0"/>
                </a:lnTo>
                <a:lnTo>
                  <a:pt x="24098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002768" y="4715054"/>
            <a:ext cx="1627632" cy="35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1"/>
              </a:lnSpc>
            </a:pPr>
            <a:r>
              <a:rPr lang="en-US" sz="1978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백엔드 서비스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13664" y="5619845"/>
            <a:ext cx="987552" cy="83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7"/>
              </a:lnSpc>
            </a:pPr>
            <a:r>
              <a:rPr lang="en-US" sz="1425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업무 로직 </a:t>
            </a:r>
          </a:p>
          <a:p>
            <a:pPr algn="ctr">
              <a:lnSpc>
                <a:spcPts val="2137"/>
              </a:lnSpc>
            </a:pPr>
            <a:r>
              <a:rPr lang="en-US" sz="1425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데이터 처리 </a:t>
            </a:r>
          </a:p>
          <a:p>
            <a:pPr algn="ctr">
              <a:lnSpc>
                <a:spcPts val="2137"/>
              </a:lnSpc>
            </a:pPr>
            <a:r>
              <a:rPr lang="en-US" sz="1425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계산 수행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020925" y="4067175"/>
            <a:ext cx="2400300" cy="3219450"/>
          </a:xfrm>
          <a:custGeom>
            <a:avLst/>
            <a:gdLst/>
            <a:ahLst/>
            <a:cxnLst/>
            <a:rect r="r" b="b" t="t" l="l"/>
            <a:pathLst>
              <a:path h="3219450" w="2400300">
                <a:moveTo>
                  <a:pt x="0" y="0"/>
                </a:moveTo>
                <a:lnTo>
                  <a:pt x="2400300" y="0"/>
                </a:lnTo>
                <a:lnTo>
                  <a:pt x="24003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745968" y="5071562"/>
            <a:ext cx="1097280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5"/>
              </a:lnSpc>
            </a:pPr>
            <a:r>
              <a:rPr lang="en-US" sz="1781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MariaDB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89936" y="5807154"/>
            <a:ext cx="1627632" cy="528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1"/>
              </a:lnSpc>
            </a:pPr>
            <a:r>
              <a:rPr lang="en-US" sz="1387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제고, 주문, AMR, </a:t>
            </a:r>
          </a:p>
          <a:p>
            <a:pPr algn="ctr">
              <a:lnSpc>
                <a:spcPts val="2081"/>
              </a:lnSpc>
            </a:pPr>
            <a:r>
              <a:rPr lang="en-US" sz="1387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작업, 이벤트 데이터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486775" y="7067550"/>
            <a:ext cx="8067675" cy="647700"/>
          </a:xfrm>
          <a:custGeom>
            <a:avLst/>
            <a:gdLst/>
            <a:ahLst/>
            <a:cxnLst/>
            <a:rect r="r" b="b" t="t" l="l"/>
            <a:pathLst>
              <a:path h="647700" w="8067675">
                <a:moveTo>
                  <a:pt x="0" y="0"/>
                </a:moveTo>
                <a:lnTo>
                  <a:pt x="8067675" y="0"/>
                </a:lnTo>
                <a:lnTo>
                  <a:pt x="806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572625" y="557212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401550" y="557212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801850" y="5572125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400925" y="7715250"/>
            <a:ext cx="10020300" cy="1285875"/>
          </a:xfrm>
          <a:custGeom>
            <a:avLst/>
            <a:gdLst/>
            <a:ahLst/>
            <a:cxnLst/>
            <a:rect r="r" b="b" t="t" l="l"/>
            <a:pathLst>
              <a:path h="1285875" w="10020300">
                <a:moveTo>
                  <a:pt x="0" y="0"/>
                </a:moveTo>
                <a:lnTo>
                  <a:pt x="10020300" y="0"/>
                </a:lnTo>
                <a:lnTo>
                  <a:pt x="10020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572625" y="81438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0277856" y="8247674"/>
            <a:ext cx="4645152" cy="336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2006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데이터 외부 전송 차단 · 내부 보안 유지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13232" y="5241700"/>
            <a:ext cx="4462272" cy="374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14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작업 목표, 조건, 우선순위를 추출합니다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1520" y="1021651"/>
            <a:ext cx="694944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65"/>
              </a:lnSpc>
            </a:pPr>
            <a:r>
              <a:rPr lang="en-US" sz="6221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재계획 및 안전 관리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2352675"/>
            <a:ext cx="6972300" cy="219075"/>
          </a:xfrm>
          <a:custGeom>
            <a:avLst/>
            <a:gdLst/>
            <a:ahLst/>
            <a:cxnLst/>
            <a:rect r="r" b="b" t="t" l="l"/>
            <a:pathLst>
              <a:path h="219075" w="6972300">
                <a:moveTo>
                  <a:pt x="0" y="0"/>
                </a:moveTo>
                <a:lnTo>
                  <a:pt x="6972300" y="0"/>
                </a:lnTo>
                <a:lnTo>
                  <a:pt x="6972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6384" y="5647849"/>
            <a:ext cx="3749040" cy="88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7"/>
              </a:lnSpc>
            </a:pPr>
            <a:r>
              <a:rPr lang="en-US" sz="2512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충돌 방지 및 긴급 정지는</a:t>
            </a:r>
          </a:p>
          <a:p>
            <a:pPr algn="l">
              <a:lnSpc>
                <a:spcPts val="3517"/>
              </a:lnSpc>
            </a:pPr>
            <a:r>
              <a:rPr lang="en-US" sz="2512">
                <a:solidFill>
                  <a:srgbClr val="70B0F1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사전 정의 알고리즘이 제어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6384" y="6927628"/>
            <a:ext cx="4736592" cy="942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2662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변경 전후 계획과 이벤트 이력을</a:t>
            </a:r>
          </a:p>
          <a:p>
            <a:pPr algn="l">
              <a:lnSpc>
                <a:spcPts val="3727"/>
              </a:lnSpc>
            </a:pPr>
            <a:r>
              <a:rPr lang="en-US" sz="2662">
                <a:solidFill>
                  <a:srgbClr val="70B0F1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추적·관리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267700" y="857250"/>
            <a:ext cx="4581525" cy="7077075"/>
          </a:xfrm>
          <a:custGeom>
            <a:avLst/>
            <a:gdLst/>
            <a:ahLst/>
            <a:cxnLst/>
            <a:rect r="r" b="b" t="t" l="l"/>
            <a:pathLst>
              <a:path h="7077075" w="4581525">
                <a:moveTo>
                  <a:pt x="0" y="0"/>
                </a:moveTo>
                <a:lnTo>
                  <a:pt x="4581525" y="0"/>
                </a:lnTo>
                <a:lnTo>
                  <a:pt x="4581525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12096" y="1186654"/>
            <a:ext cx="1261872" cy="32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3"/>
              </a:lnSpc>
            </a:pPr>
            <a:r>
              <a:rPr lang="en-US" sz="1802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변경 전 계획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144000" y="192405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72625" y="4067175"/>
            <a:ext cx="666750" cy="866775"/>
          </a:xfrm>
          <a:custGeom>
            <a:avLst/>
            <a:gdLst/>
            <a:ahLst/>
            <a:cxnLst/>
            <a:rect r="r" b="b" t="t" l="l"/>
            <a:pathLst>
              <a:path h="866775" w="666750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663892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24925" y="2143125"/>
            <a:ext cx="2400300" cy="4933950"/>
          </a:xfrm>
          <a:custGeom>
            <a:avLst/>
            <a:gdLst/>
            <a:ahLst/>
            <a:cxnLst/>
            <a:rect r="r" b="b" t="t" l="l"/>
            <a:pathLst>
              <a:path h="4933950" w="2400300">
                <a:moveTo>
                  <a:pt x="0" y="0"/>
                </a:moveTo>
                <a:lnTo>
                  <a:pt x="2400300" y="0"/>
                </a:lnTo>
                <a:lnTo>
                  <a:pt x="240030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096625" y="3429000"/>
            <a:ext cx="885825" cy="1076325"/>
          </a:xfrm>
          <a:custGeom>
            <a:avLst/>
            <a:gdLst/>
            <a:ahLst/>
            <a:cxnLst/>
            <a:rect r="r" b="b" t="t" l="l"/>
            <a:pathLst>
              <a:path h="1076325" w="885825">
                <a:moveTo>
                  <a:pt x="0" y="0"/>
                </a:moveTo>
                <a:lnTo>
                  <a:pt x="885825" y="0"/>
                </a:lnTo>
                <a:lnTo>
                  <a:pt x="885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315700" y="363855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058775" y="857250"/>
            <a:ext cx="4581525" cy="7077075"/>
          </a:xfrm>
          <a:custGeom>
            <a:avLst/>
            <a:gdLst/>
            <a:ahLst/>
            <a:cxnLst/>
            <a:rect r="r" b="b" t="t" l="l"/>
            <a:pathLst>
              <a:path h="7077075" w="4581525">
                <a:moveTo>
                  <a:pt x="0" y="0"/>
                </a:moveTo>
                <a:lnTo>
                  <a:pt x="4581525" y="0"/>
                </a:lnTo>
                <a:lnTo>
                  <a:pt x="4581525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703552" y="1186654"/>
            <a:ext cx="1261872" cy="32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3"/>
              </a:lnSpc>
            </a:pPr>
            <a:r>
              <a:rPr lang="en-US" sz="1802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변경 후 계획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925550" y="1924050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363700" y="4067175"/>
            <a:ext cx="666750" cy="866775"/>
          </a:xfrm>
          <a:custGeom>
            <a:avLst/>
            <a:gdLst/>
            <a:ahLst/>
            <a:cxnLst/>
            <a:rect r="r" b="b" t="t" l="l"/>
            <a:pathLst>
              <a:path h="866775" w="666750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925550" y="6638925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496925" y="2143125"/>
            <a:ext cx="2838450" cy="4933950"/>
          </a:xfrm>
          <a:custGeom>
            <a:avLst/>
            <a:gdLst/>
            <a:ahLst/>
            <a:cxnLst/>
            <a:rect r="r" b="b" t="t" l="l"/>
            <a:pathLst>
              <a:path h="4933950" w="2838450">
                <a:moveTo>
                  <a:pt x="0" y="0"/>
                </a:moveTo>
                <a:lnTo>
                  <a:pt x="2838450" y="0"/>
                </a:lnTo>
                <a:lnTo>
                  <a:pt x="283845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887700" y="3638550"/>
            <a:ext cx="1095375" cy="866775"/>
          </a:xfrm>
          <a:custGeom>
            <a:avLst/>
            <a:gdLst/>
            <a:ahLst/>
            <a:cxnLst/>
            <a:rect r="r" b="b" t="t" l="l"/>
            <a:pathLst>
              <a:path h="866775" w="1095375">
                <a:moveTo>
                  <a:pt x="0" y="0"/>
                </a:moveTo>
                <a:lnTo>
                  <a:pt x="1095375" y="0"/>
                </a:lnTo>
                <a:lnTo>
                  <a:pt x="1095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106775" y="36385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401550" y="4067175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66775" y="8143875"/>
            <a:ext cx="16335375" cy="2143125"/>
          </a:xfrm>
          <a:custGeom>
            <a:avLst/>
            <a:gdLst/>
            <a:ahLst/>
            <a:cxnLst/>
            <a:rect r="r" b="b" t="t" l="l"/>
            <a:pathLst>
              <a:path h="2143125" w="16335375">
                <a:moveTo>
                  <a:pt x="0" y="0"/>
                </a:moveTo>
                <a:lnTo>
                  <a:pt x="16335375" y="0"/>
                </a:lnTo>
                <a:lnTo>
                  <a:pt x="163353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542032" y="8590377"/>
            <a:ext cx="1975104" cy="42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6"/>
              </a:lnSpc>
            </a:pPr>
            <a:r>
              <a:rPr lang="en-US" sz="2397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상황 변화 감지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66544" y="9170289"/>
            <a:ext cx="29260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</a:pPr>
            <a:r>
              <a:rPr lang="en-US" sz="1725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장애물, 통로차단, 배터리 부족,</a:t>
            </a:r>
          </a:p>
          <a:p>
            <a:pPr algn="ctr">
              <a:lnSpc>
                <a:spcPts val="2415"/>
              </a:lnSpc>
            </a:pPr>
            <a:r>
              <a:rPr lang="en-US" sz="1725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긴급 주문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5438775" y="8572500"/>
            <a:ext cx="228600" cy="1285875"/>
          </a:xfrm>
          <a:custGeom>
            <a:avLst/>
            <a:gdLst/>
            <a:ahLst/>
            <a:cxnLst/>
            <a:rect r="r" b="b" t="t" l="l"/>
            <a:pathLst>
              <a:path h="1285875" w="228600">
                <a:moveTo>
                  <a:pt x="0" y="0"/>
                </a:moveTo>
                <a:lnTo>
                  <a:pt x="228600" y="0"/>
                </a:lnTo>
                <a:lnTo>
                  <a:pt x="228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437376" y="8595527"/>
            <a:ext cx="1609344" cy="424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28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재계획 실행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92240" y="9198388"/>
            <a:ext cx="1481328" cy="58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1687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AMR 재배정 및</a:t>
            </a:r>
          </a:p>
          <a:p>
            <a:pPr algn="ctr">
              <a:lnSpc>
                <a:spcPts val="2362"/>
              </a:lnSpc>
            </a:pPr>
            <a:r>
              <a:rPr lang="en-US" sz="1687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우회 경로 적용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8924925" y="8572500"/>
            <a:ext cx="219075" cy="1285875"/>
          </a:xfrm>
          <a:custGeom>
            <a:avLst/>
            <a:gdLst/>
            <a:ahLst/>
            <a:cxnLst/>
            <a:rect r="r" b="b" t="t" l="l"/>
            <a:pathLst>
              <a:path h="1285875" w="219075">
                <a:moveTo>
                  <a:pt x="0" y="0"/>
                </a:moveTo>
                <a:lnTo>
                  <a:pt x="219075" y="0"/>
                </a:lnTo>
                <a:lnTo>
                  <a:pt x="219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222992" y="8582013"/>
            <a:ext cx="1335024" cy="44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489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안전 제어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20656" y="9180290"/>
            <a:ext cx="2139696" cy="62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7"/>
              </a:lnSpc>
            </a:pPr>
            <a:r>
              <a:rPr lang="en-US" sz="1762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충돌 방지 알고리즘 및</a:t>
            </a:r>
          </a:p>
          <a:p>
            <a:pPr algn="ctr">
              <a:lnSpc>
                <a:spcPts val="2467"/>
              </a:lnSpc>
            </a:pPr>
            <a:r>
              <a:rPr lang="en-US" sz="1762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긴급 정지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2620625" y="8572500"/>
            <a:ext cx="228600" cy="1285875"/>
          </a:xfrm>
          <a:custGeom>
            <a:avLst/>
            <a:gdLst/>
            <a:ahLst/>
            <a:cxnLst/>
            <a:rect r="r" b="b" t="t" l="l"/>
            <a:pathLst>
              <a:path h="1285875" w="228600">
                <a:moveTo>
                  <a:pt x="0" y="0"/>
                </a:moveTo>
                <a:lnTo>
                  <a:pt x="228600" y="0"/>
                </a:lnTo>
                <a:lnTo>
                  <a:pt x="228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4154912" y="8582013"/>
            <a:ext cx="1335024" cy="44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489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이력 관리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661136" y="9170289"/>
            <a:ext cx="2340864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</a:pPr>
            <a:r>
              <a:rPr lang="en-US" sz="1725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변경 전후 계획과 이벤트</a:t>
            </a:r>
          </a:p>
          <a:p>
            <a:pPr algn="ctr">
              <a:lnSpc>
                <a:spcPts val="2415"/>
              </a:lnSpc>
            </a:pPr>
            <a:r>
              <a:rPr lang="en-US" sz="1725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이력 추적·관리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86384" y="3071431"/>
            <a:ext cx="3749040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실시간 상황 변화에 따라</a:t>
            </a:r>
          </a:p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70B0F1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작업 계획을 자동으로 재계획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86384" y="4314253"/>
            <a:ext cx="519379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625">
                <a:solidFill>
                  <a:srgbClr val="FFFFFF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AMR 재배정과 우회 경로 적용으로</a:t>
            </a:r>
          </a:p>
          <a:p>
            <a:pPr algn="l">
              <a:lnSpc>
                <a:spcPts val="3675"/>
              </a:lnSpc>
            </a:pPr>
            <a:r>
              <a:rPr lang="en-US" sz="2625">
                <a:solidFill>
                  <a:srgbClr val="70B0F1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운영 중단 최소화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67700" y="209550"/>
            <a:ext cx="9810750" cy="8153400"/>
          </a:xfrm>
          <a:custGeom>
            <a:avLst/>
            <a:gdLst/>
            <a:ahLst/>
            <a:cxnLst/>
            <a:rect r="r" b="b" t="t" l="l"/>
            <a:pathLst>
              <a:path h="8153400" w="9810750">
                <a:moveTo>
                  <a:pt x="0" y="0"/>
                </a:moveTo>
                <a:lnTo>
                  <a:pt x="9810750" y="0"/>
                </a:lnTo>
                <a:lnTo>
                  <a:pt x="9810750" y="8153400"/>
                </a:lnTo>
                <a:lnTo>
                  <a:pt x="0" y="8153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1520" y="1568517"/>
            <a:ext cx="6656832" cy="68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4"/>
              </a:lnSpc>
            </a:pPr>
            <a:r>
              <a:rPr lang="en-US" sz="376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실시간 관제 및 분석, 기대효과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3000375"/>
            <a:ext cx="6762750" cy="219075"/>
          </a:xfrm>
          <a:custGeom>
            <a:avLst/>
            <a:gdLst/>
            <a:ahLst/>
            <a:cxnLst/>
            <a:rect r="r" b="b" t="t" l="l"/>
            <a:pathLst>
              <a:path h="219075" w="6762750">
                <a:moveTo>
                  <a:pt x="0" y="0"/>
                </a:moveTo>
                <a:lnTo>
                  <a:pt x="6762750" y="0"/>
                </a:lnTo>
                <a:lnTo>
                  <a:pt x="6762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1520" y="3527286"/>
            <a:ext cx="6949440" cy="326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6"/>
              </a:lnSpc>
            </a:pPr>
            <a:r>
              <a:rPr lang="en-US" sz="2090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실시간 재고와 구역별 공간, AMR 현황을 한눈에</a:t>
            </a:r>
          </a:p>
          <a:p>
            <a:pPr algn="l">
              <a:lnSpc>
                <a:spcPts val="5226"/>
              </a:lnSpc>
            </a:pPr>
            <a:r>
              <a:rPr lang="en-US" sz="2090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작업 진행-대기-완료, 긴급-지연 작업과 이벤트를 즉시 파악</a:t>
            </a:r>
          </a:p>
          <a:p>
            <a:pPr algn="l">
              <a:lnSpc>
                <a:spcPts val="5226"/>
              </a:lnSpc>
            </a:pPr>
            <a:r>
              <a:rPr lang="en-US" sz="2090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일/주/월 처리량, 재고 변동, 작업 성과를 분석</a:t>
            </a:r>
          </a:p>
          <a:p>
            <a:pPr algn="l">
              <a:lnSpc>
                <a:spcPts val="5226"/>
              </a:lnSpc>
            </a:pPr>
            <a:r>
              <a:rPr lang="en-US" sz="2090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자연어 지시와 운영정보 조회로 빠로게 의사결정</a:t>
            </a:r>
          </a:p>
          <a:p>
            <a:pPr algn="l">
              <a:lnSpc>
                <a:spcPts val="5226"/>
              </a:lnSpc>
            </a:pPr>
            <a:r>
              <a:rPr lang="en-US" sz="2090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예: "오늘 처리되지 않은 긴급 출고 보여줘"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1520" y="8803684"/>
            <a:ext cx="1408176" cy="45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>
                <a:solidFill>
                  <a:srgbClr val="80B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기대 효과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609850" y="8572500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96000" y="8782050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72625" y="8782050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277850" y="8782050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66160" y="8486442"/>
            <a:ext cx="1975104" cy="374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6"/>
              </a:lnSpc>
            </a:pPr>
            <a:r>
              <a:rPr lang="en-US" sz="2118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운영 가시성 항상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66160" y="9231648"/>
            <a:ext cx="2011680" cy="157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2"/>
              </a:lnSpc>
            </a:pPr>
            <a:r>
              <a:rPr lang="en-US" sz="916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실시간 통합 관제로 현황 파악 시간 단축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70064" y="8472511"/>
            <a:ext cx="1408176" cy="39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2146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생산성 증대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15200" y="8980158"/>
            <a:ext cx="1627632" cy="63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sz="1739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작업 최적화와</a:t>
            </a:r>
          </a:p>
          <a:p>
            <a:pPr algn="l">
              <a:lnSpc>
                <a:spcPts val="2434"/>
              </a:lnSpc>
            </a:pPr>
            <a:r>
              <a:rPr lang="en-US" sz="1739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지원 활용 극대화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08208" y="8477988"/>
            <a:ext cx="1975104" cy="39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의사결정 가속화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44784" y="8962715"/>
            <a:ext cx="1975104" cy="65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865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데이터 기반 분석과</a:t>
            </a:r>
          </a:p>
          <a:p>
            <a:pPr algn="l">
              <a:lnSpc>
                <a:spcPts val="2611"/>
              </a:lnSpc>
            </a:pPr>
            <a:r>
              <a:rPr lang="en-US" sz="1865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자연어 조회 지원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05888" y="8490490"/>
            <a:ext cx="109728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2062">
                <a:solidFill>
                  <a:srgbClr val="80B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지속 확장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612112" y="9008197"/>
            <a:ext cx="2011680" cy="58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96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다양한 시스템 연계와 지능형 기능 고도화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DAHUfwFfPVQ</dc:identifier>
  <dcterms:modified xsi:type="dcterms:W3CDTF">2011-08-01T06:04:30Z</dcterms:modified>
  <cp:revision>1</cp:revision>
  <dc:title>AI 물류창고 관제</dc:title>
</cp:coreProperties>
</file>